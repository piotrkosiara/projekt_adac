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4.png"/><Relationship Id="rId4" Type="http://schemas.openxmlformats.org/officeDocument/2006/relationships/video" Target="../media/media2.mp4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5216" y="411480"/>
            <a:ext cx="1572768" cy="347472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484632"/>
            <a:ext cx="135331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0E7490"/>
                </a:solidFill>
                <a:latin typeface="Aptos"/>
              </a:rPr>
              <a:t>React + TypeScript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411480"/>
            <a:ext cx="1874519" cy="347472"/>
          </a:xfrm>
          <a:prstGeom prst="roundRect">
            <a:avLst/>
          </a:prstGeom>
          <a:solidFill>
            <a:srgbClr val="D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41448" y="484632"/>
            <a:ext cx="1655063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17855F"/>
                </a:solidFill>
                <a:latin typeface="Aptos"/>
              </a:rPr>
              <a:t>FastAPI +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"/>
            <a:ext cx="2084831" cy="347472"/>
          </a:xfrm>
          <a:prstGeom prst="roundRect">
            <a:avLst/>
          </a:prstGeom>
          <a:solidFill>
            <a:srgbClr val="F9E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98848" y="484632"/>
            <a:ext cx="186537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C94F1A"/>
                </a:solidFill>
                <a:latin typeface="Aptos"/>
              </a:rPr>
              <a:t>scikit-learn + Playwright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51560"/>
            <a:ext cx="822960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4500" b="1">
                <a:solidFill>
                  <a:srgbClr val="10201C"/>
                </a:solidFill>
                <a:latin typeface="Bahnschrift"/>
              </a:rPr>
              <a:t>Bot czy człowiek?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847088"/>
            <a:ext cx="672084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900" b="0">
                <a:solidFill>
                  <a:srgbClr val="53665F"/>
                </a:solidFill>
                <a:latin typeface="Aptos"/>
              </a:rPr>
              <a:t>Behawioralna biometria ruchu myszy dla ochrony aplikacji webowej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941832"/>
            <a:ext cx="3886200" cy="365760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1124712"/>
            <a:ext cx="34838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Co pokazujemy?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1600200"/>
            <a:ext cx="3483864" cy="2816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800" b="0">
                <a:solidFill>
                  <a:srgbClr val="10201C"/>
                </a:solidFill>
                <a:latin typeface="Aptos"/>
              </a:rPr>
              <a:t>1. Zbieranie ruchu myszy i scrolla
2. Generowanie ruchu botów
3. Klasyfikację human vs bot
4. Interpretowalny raport modelu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054096"/>
            <a:ext cx="4023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C94F1A"/>
                </a:solidFill>
                <a:latin typeface="Bahnschrift"/>
              </a:rPr>
              <a:t>MVP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529584"/>
            <a:ext cx="61264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0">
                <a:solidFill>
                  <a:srgbClr val="10201C"/>
                </a:solidFill>
                <a:latin typeface="Aptos"/>
              </a:rPr>
              <a:t>Telemetryka przeglądarki -&gt; cechy behawioralne -&gt; drzewo decyzyjne -&gt; decyzja ochronna.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199632"/>
            <a:ext cx="5943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53665F"/>
                </a:solidFill>
                <a:latin typeface="Aptos"/>
              </a:rPr>
              <a:t>Autorzy: Piotr Kosiara, Emilia Anczarska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MOTYWACJA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Nie pytamy tylko kim jesteś. Patrzymy jak się poruszasz.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474720" cy="30632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057400"/>
            <a:ext cx="30723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532887"/>
            <a:ext cx="3072384" cy="22219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0">
                <a:solidFill>
                  <a:srgbClr val="10201C"/>
                </a:solidFill>
                <a:latin typeface="Aptos"/>
              </a:rPr>
              <a:t>Bot może ominąć proste reguły, zmienić user-agent i działać podobnie do zwykłego klienta HTTP.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74519"/>
            <a:ext cx="3474720" cy="3063240"/>
          </a:xfrm>
          <a:prstGeom prst="roundRect">
            <a:avLst/>
          </a:prstGeom>
          <a:solidFill>
            <a:srgbClr val="DDF3EF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2057400"/>
            <a:ext cx="30723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Sygnał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532887"/>
            <a:ext cx="3072384" cy="22219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0">
                <a:solidFill>
                  <a:srgbClr val="10201C"/>
                </a:solidFill>
                <a:latin typeface="Aptos"/>
              </a:rPr>
              <a:t>Ruch kursora, przyspieszenia, kliknięcia, scroll i mikro-pauzy tworzą wzorzec zachowania.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474720" cy="3063240"/>
          </a:xfrm>
          <a:prstGeom prst="roundRect">
            <a:avLst/>
          </a:prstGeom>
          <a:solidFill>
            <a:srgbClr val="F9E5D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2057400"/>
            <a:ext cx="30723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532887"/>
            <a:ext cx="3072384" cy="22219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0">
                <a:solidFill>
                  <a:srgbClr val="10201C"/>
                </a:solidFill>
                <a:latin typeface="Aptos"/>
              </a:rPr>
              <a:t>Na krótkim oknie zdarzeń wyznaczyć ryzyko i podjąć decyzję ochronną.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5650992"/>
            <a:ext cx="58521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17855F"/>
                </a:solidFill>
                <a:latin typeface="Aptos"/>
              </a:rPr>
              <a:t>allow / observe / throttle / challenge / block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ARCHITEKTURA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Architektura lokalnego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0">
                <a:solidFill>
                  <a:srgbClr val="53665F"/>
                </a:solidFill>
                <a:latin typeface="Aptos"/>
              </a:rPr>
              <a:t>Docker Compose łączy frontend, backend, bazę, bot runner i raportowanie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286000" cy="141732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148840"/>
            <a:ext cx="18836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24328"/>
            <a:ext cx="188366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Vite + React
telemetry batches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965960"/>
            <a:ext cx="2286000" cy="141732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7" y="2148840"/>
            <a:ext cx="18836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7" y="2624328"/>
            <a:ext cx="188366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FastAPI
walidacja i zapis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965960"/>
            <a:ext cx="2286000" cy="141732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59168" y="2148840"/>
            <a:ext cx="18836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Feature +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624328"/>
            <a:ext cx="188366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okna zdarzeń
drzewo decyzyjne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74352" y="1965960"/>
            <a:ext cx="1874519" cy="1417320"/>
          </a:xfrm>
          <a:prstGeom prst="roundRect">
            <a:avLst/>
          </a:prstGeom>
          <a:solidFill>
            <a:srgbClr val="F9E5D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2148840"/>
            <a:ext cx="14721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624328"/>
            <a:ext cx="1472184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risk_score
akcja ochronna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62656" y="2679191"/>
            <a:ext cx="731520" cy="0"/>
          </a:xfrm>
          <a:prstGeom prst="line">
            <a:avLst/>
          </a:prstGeom>
          <a:ln w="2794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71616" y="2679191"/>
            <a:ext cx="731520" cy="0"/>
          </a:xfrm>
          <a:prstGeom prst="line">
            <a:avLst/>
          </a:prstGeom>
          <a:ln w="2794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80576" y="2679191"/>
            <a:ext cx="438912" cy="0"/>
          </a:xfrm>
          <a:prstGeom prst="line">
            <a:avLst/>
          </a:prstGeom>
          <a:ln w="2794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" y="4187952"/>
            <a:ext cx="2743200" cy="1325880"/>
          </a:xfrm>
          <a:prstGeom prst="roundRect">
            <a:avLst/>
          </a:prstGeom>
          <a:solidFill>
            <a:srgbClr val="DDF3EF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1288" y="4370832"/>
            <a:ext cx="23408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Bot Runner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846320"/>
            <a:ext cx="2340864" cy="4846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Playwright generuje linear, human_like i adaptive.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187952"/>
            <a:ext cx="2926080" cy="1325880"/>
          </a:xfrm>
          <a:prstGeom prst="roundRect">
            <a:avLst/>
          </a:prstGeom>
          <a:solidFill>
            <a:srgbClr val="DFF2E8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7" y="4370832"/>
            <a:ext cx="25237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7" y="4846320"/>
            <a:ext cx="2523744" cy="4846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10201C"/>
                </a:solidFill>
                <a:latin typeface="Aptos"/>
              </a:rPr>
              <a:t>sessions, raw_events, predictions, model_versions, enforcement_actions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4187952"/>
            <a:ext cx="2743200" cy="1325880"/>
          </a:xfrm>
          <a:prstGeom prst="roundRect">
            <a:avLst/>
          </a:prstGeom>
          <a:solidFill>
            <a:srgbClr val="FFF1C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0" y="4370832"/>
            <a:ext cx="23408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Raport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46320"/>
            <a:ext cx="2340864" cy="4846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10201C"/>
                </a:solidFill>
                <a:latin typeface="Aptos"/>
              </a:rPr>
              <a:t>metryki, ROC, confusion matrix, drzewo i importance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1828800" y="3456432"/>
            <a:ext cx="502920" cy="676655"/>
          </a:xfrm>
          <a:prstGeom prst="line">
            <a:avLst/>
          </a:prstGeom>
          <a:ln w="27940">
            <a:solidFill>
              <a:srgbClr val="C94F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4901184" y="3429000"/>
            <a:ext cx="1225296" cy="685800"/>
          </a:xfrm>
          <a:prstGeom prst="line">
            <a:avLst/>
          </a:prstGeom>
          <a:ln w="27940">
            <a:solidFill>
              <a:srgbClr val="178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FRONTEND TESTBED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Interfejs do naturalnego klikania, scrollowania, wyszukiwania i zbierania telemetryki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7818120" cy="480060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ronten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09" y="1764792"/>
            <a:ext cx="6141804" cy="44074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78240" y="1691640"/>
            <a:ext cx="2697480" cy="1234440"/>
          </a:xfrm>
          <a:prstGeom prst="roundRect">
            <a:avLst/>
          </a:prstGeom>
          <a:solidFill>
            <a:srgbClr val="DDF3EF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79408" y="1874520"/>
            <a:ext cx="22951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Interakcje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2350008"/>
            <a:ext cx="2295144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10201C"/>
                </a:solidFill>
                <a:latin typeface="Aptos"/>
              </a:rPr>
              <a:t>przyciski, wyszukiwarka, karty, lista, formularz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127248"/>
            <a:ext cx="2697480" cy="1325880"/>
          </a:xfrm>
          <a:prstGeom prst="roundRect">
            <a:avLst/>
          </a:prstGeom>
          <a:solidFill>
            <a:srgbClr val="DFF2E8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79408" y="3310128"/>
            <a:ext cx="22951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Telemetryka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3785615"/>
            <a:ext cx="2295144" cy="4846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10201C"/>
                </a:solidFill>
                <a:latin typeface="Aptos"/>
              </a:rPr>
              <a:t>mousemove, click, scroll, focus, blur, viewport enter/leave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681728"/>
            <a:ext cx="2697480" cy="1234440"/>
          </a:xfrm>
          <a:prstGeom prst="roundRect">
            <a:avLst/>
          </a:prstGeom>
          <a:solidFill>
            <a:srgbClr val="F9E5D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79408" y="4864608"/>
            <a:ext cx="22951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Human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5340096"/>
            <a:ext cx="2295144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10201C"/>
                </a:solidFill>
                <a:latin typeface="Aptos"/>
              </a:rPr>
              <a:t>ręczne sesje oznaczane jako human w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BOT 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Powtarzalne scenariusze Playwright z nagrywaniem zachowania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3337560" cy="35204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linear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04671" y="1847088"/>
            <a:ext cx="3008376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" y="3886200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1">
                <a:solidFill>
                  <a:srgbClr val="C94F1A"/>
                </a:solidFill>
                <a:latin typeface="Bahnschrift"/>
              </a:rPr>
              <a:t>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270248"/>
            <a:ext cx="283464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53665F"/>
                </a:solidFill>
                <a:latin typeface="Aptos"/>
              </a:rPr>
              <a:t>25 sesji. Stała prędkość i proste przejścia punkt-punkt.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64208"/>
            <a:ext cx="3337560" cy="35204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human_lik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645152" y="1847088"/>
            <a:ext cx="3008376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0872" y="3886200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1">
                <a:solidFill>
                  <a:srgbClr val="0E7490"/>
                </a:solidFill>
                <a:latin typeface="Bahnschrift"/>
              </a:rPr>
              <a:t>Human-like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4270248"/>
            <a:ext cx="283464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53665F"/>
                </a:solidFill>
                <a:latin typeface="Aptos"/>
              </a:rPr>
              <a:t>26 sesji. Krzywe Béziera, jitter i losowe opóźnienia.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64208"/>
            <a:ext cx="3337560" cy="35204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daptiv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85632" y="1847088"/>
            <a:ext cx="3008376" cy="1874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31352" y="3886200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1">
                <a:solidFill>
                  <a:srgbClr val="17855F"/>
                </a:solidFill>
                <a:latin typeface="Bahnschrift"/>
              </a:rPr>
              <a:t>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4270248"/>
            <a:ext cx="283464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53665F"/>
                </a:solidFill>
                <a:latin typeface="Aptos"/>
              </a:rPr>
              <a:t>50 sesji. Dopasowanie profilu ruchu do danych human.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13832"/>
            <a:ext cx="10927080" cy="758952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5742432"/>
            <a:ext cx="1051560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10201C"/>
                </a:solidFill>
                <a:latin typeface="Aptos"/>
              </a:rPr>
              <a:t>Komendy: docker compose exec bot_runner python main.py --scenario &lt;linear|human_like|adaptive&gt; --sessions N --record-video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Model widzi okno zachowania, nie pojedynczy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246120" cy="14630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874520"/>
            <a:ext cx="28437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Dynamika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350008"/>
            <a:ext cx="2843784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speed_mean, speed_std,
acc_max, jerk_max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246120" cy="1463040"/>
          </a:xfrm>
          <a:prstGeom prst="roundRect">
            <a:avLst/>
          </a:prstGeom>
          <a:solidFill>
            <a:srgbClr val="DDF3EF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1874520"/>
            <a:ext cx="28437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Geometria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350008"/>
            <a:ext cx="2843784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path_length,
curvature_mean,
angle_change_std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91640"/>
            <a:ext cx="3246120" cy="1463040"/>
          </a:xfrm>
          <a:prstGeom prst="roundRect">
            <a:avLst/>
          </a:prstGeom>
          <a:solidFill>
            <a:srgbClr val="DFF2E8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47888" y="1874520"/>
            <a:ext cx="28437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Kliknięcia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350008"/>
            <a:ext cx="2843784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click_interval_mean,
hover_before_click_mean,
dwell_time_mean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93592"/>
            <a:ext cx="3246120" cy="1463040"/>
          </a:xfrm>
          <a:prstGeom prst="roundRect">
            <a:avLst/>
          </a:prstGeom>
          <a:solidFill>
            <a:srgbClr val="F9E5D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776472"/>
            <a:ext cx="28437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Scroll i rytm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251960"/>
            <a:ext cx="2843784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scroll_count,
scroll_velocity_mean,
micro_pause_count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593592"/>
            <a:ext cx="3246120" cy="14630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3776472"/>
            <a:ext cx="28437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Sekwencja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251960"/>
            <a:ext cx="2843784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event_type_entropy,
unique_event_types,
focus_blur_transitions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593592"/>
            <a:ext cx="3246120" cy="1463040"/>
          </a:xfrm>
          <a:prstGeom prst="roundRect">
            <a:avLst/>
          </a:prstGeom>
          <a:solidFill>
            <a:srgbClr val="FFF1C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3776472"/>
            <a:ext cx="284378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Anti-leakage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4251960"/>
            <a:ext cx="2843784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10201C"/>
                </a:solidFill>
                <a:latin typeface="Aptos"/>
              </a:rPr>
              <a:t>cechy środowiskowe
nie wchodzą do finalnego drzewa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989320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1">
                <a:solidFill>
                  <a:srgbClr val="0E7490"/>
                </a:solidFill>
                <a:latin typeface="Aptos"/>
              </a:rPr>
              <a:t>Okna treningowe: window_size=120, stride=80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FINALNY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Interpretowalne drzewo decyzyjne zamiast czarnej skrzynki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2487168" cy="1078992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719072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0E7490"/>
                </a:solidFill>
                <a:latin typeface="Bahnschrift"/>
              </a:rPr>
              <a:t>0.982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130552"/>
            <a:ext cx="21031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201C"/>
                </a:solidFill>
                <a:latin typeface="Aptos"/>
              </a:rP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77440"/>
            <a:ext cx="2103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00" b="0">
                <a:solidFill>
                  <a:srgbClr val="53665F"/>
                </a:solidFill>
                <a:latin typeface="Aptos"/>
              </a:rPr>
              <a:t>mało fałszywych alarmów 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3552" y="1627632"/>
            <a:ext cx="2487168" cy="1078992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8144" y="1719072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C94F1A"/>
                </a:solidFill>
                <a:latin typeface="Bahnschrift"/>
              </a:rPr>
              <a:t>0.902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4" y="2130552"/>
            <a:ext cx="21031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201C"/>
                </a:solidFill>
                <a:latin typeface="Aptos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377440"/>
            <a:ext cx="2103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00" b="0">
                <a:solidFill>
                  <a:srgbClr val="53665F"/>
                </a:solidFill>
                <a:latin typeface="Aptos"/>
              </a:rPr>
              <a:t>wykrywalność botów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07024" y="1627632"/>
            <a:ext cx="2487168" cy="1078992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71616" y="1719072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17855F"/>
                </a:solidFill>
                <a:latin typeface="Bahnschrift"/>
              </a:rPr>
              <a:t>0.940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2130552"/>
            <a:ext cx="21031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201C"/>
                </a:solidFill>
                <a:latin typeface="Aptos"/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2377440"/>
            <a:ext cx="2103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00" b="0">
                <a:solidFill>
                  <a:srgbClr val="53665F"/>
                </a:solidFill>
                <a:latin typeface="Aptos"/>
              </a:rPr>
              <a:t>kompromis precision/recall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0496" y="1627632"/>
            <a:ext cx="2487168" cy="1078992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05088" y="1719072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500" b="1">
                <a:solidFill>
                  <a:srgbClr val="D79B18"/>
                </a:solidFill>
                <a:latin typeface="Bahnschrift"/>
              </a:rPr>
              <a:t>0.944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130552"/>
            <a:ext cx="21031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10201C"/>
                </a:solidFill>
                <a:latin typeface="Aptos"/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377440"/>
            <a:ext cx="2103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00" b="0">
                <a:solidFill>
                  <a:srgbClr val="53665F"/>
                </a:solidFill>
                <a:latin typeface="Aptos"/>
              </a:rPr>
              <a:t>separacja klas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5257800" cy="2029968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355848"/>
            <a:ext cx="48554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Konfiguracja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31336"/>
            <a:ext cx="4855464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0">
                <a:solidFill>
                  <a:srgbClr val="10201C"/>
                </a:solidFill>
                <a:latin typeface="Aptos"/>
              </a:rPr>
              <a:t>DecisionTreeClassifier
window_size=120, stride=80
max_depth=12, min_samples_leaf=2
risk_score = probability_bot x 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172968"/>
            <a:ext cx="5257800" cy="2029968"/>
          </a:xfrm>
          <a:prstGeom prst="roundRect">
            <a:avLst/>
          </a:prstGeom>
          <a:solidFill>
            <a:srgbClr val="DDF3EF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7" y="3355848"/>
            <a:ext cx="48554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Walidacja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831336"/>
            <a:ext cx="4855464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0">
                <a:solidFill>
                  <a:srgbClr val="10201C"/>
                </a:solidFill>
                <a:latin typeface="Aptos"/>
              </a:rPr>
              <a:t>Podział 75% / 25% przez GroupShuffleSplit.
Grupowanie po session_id ogranicza przeciek między oknami tej samej sesji.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70448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C94F1A"/>
                </a:solidFill>
                <a:latin typeface="Aptos"/>
              </a:rPr>
              <a:t>Uwaga: to nadal MVP. Wynik dobrze opisuje lokalny zbiór i obecne rodziny botów, ale nie jest jeszcze gwarancją odporności produkcyjnej.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RAPORT HOLD-OUT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Macierz pomyłek i ROC dla testu wydzielonego z treningu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49240" cy="48920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84248"/>
            <a:ext cx="4983480" cy="39867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554480"/>
            <a:ext cx="5257800" cy="48920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oc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20824"/>
            <a:ext cx="489204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EWALUACJA MODELU AKTYWNEGO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Sprawdzenie modelu zapisanego jako aktualny artefakt backendu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49240" cy="48920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84248"/>
            <a:ext cx="4983480" cy="39867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554480"/>
            <a:ext cx="5257800" cy="489204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oc_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20824"/>
            <a:ext cx="489204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INTERPRETOWALNOŚĆ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Progi cech i struktura drzewa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6984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0">
                <a:solidFill>
                  <a:srgbClr val="53665F"/>
                </a:solidFill>
                <a:latin typeface="Aptos"/>
              </a:rPr>
              <a:t>Wizualizacja pokazuje, które zmienne były użyte przy podejmowaniu decyzji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27632"/>
            <a:ext cx="6995160" cy="4773168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39924"/>
            <a:ext cx="6629400" cy="3093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27632"/>
            <a:ext cx="3749039" cy="269748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004199"/>
            <a:ext cx="3447288" cy="18803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4590288"/>
            <a:ext cx="3749039" cy="1389888"/>
          </a:xfrm>
          <a:prstGeom prst="roundRect">
            <a:avLst/>
          </a:prstGeom>
          <a:solidFill>
            <a:srgbClr val="FFF1C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4773168"/>
            <a:ext cx="3346703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Jak to czytać?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5248655"/>
            <a:ext cx="3346703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10201C"/>
                </a:solidFill>
                <a:latin typeface="Aptos"/>
              </a:rPr>
              <a:t>Dwie gałęzie tej samej klasy mają sens: mogą rozdzielać podgrupy o innych prawdopodobieństwach, Gini i liczności próbek.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Aptos"/>
              </a:rPr>
              <a:t>POLICY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10201C"/>
                </a:solidFill>
                <a:latin typeface="Bahnschrift"/>
              </a:rPr>
              <a:t>Model zwraca ryzyko, a aplikacja przekłada je na akcję ochronną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920240" cy="1143000"/>
          </a:xfrm>
          <a:prstGeom prst="roundRect">
            <a:avLst/>
          </a:prstGeom>
          <a:solidFill>
            <a:srgbClr val="DFF2E8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011680"/>
            <a:ext cx="17007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900" b="1">
                <a:solidFill>
                  <a:srgbClr val="17855F"/>
                </a:solidFill>
                <a:latin typeface="Bahnschrift"/>
              </a:rPr>
              <a:t>allow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1700784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53665F"/>
                </a:solidFill>
                <a:latin typeface="Aptos"/>
              </a:rPr>
              <a:t>niskie ryzyko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755648"/>
            <a:ext cx="1920240" cy="114300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17007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900" b="1">
                <a:solidFill>
                  <a:srgbClr val="0E7490"/>
                </a:solidFill>
                <a:latin typeface="Bahnschrift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95728"/>
            <a:ext cx="1700784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53665F"/>
                </a:solidFill>
                <a:latin typeface="Aptos"/>
              </a:rPr>
              <a:t>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1755648"/>
            <a:ext cx="1920240" cy="1143000"/>
          </a:xfrm>
          <a:prstGeom prst="roundRect">
            <a:avLst/>
          </a:prstGeom>
          <a:solidFill>
            <a:srgbClr val="FFF1C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2" y="2011680"/>
            <a:ext cx="17007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900" b="1">
                <a:solidFill>
                  <a:srgbClr val="D79B18"/>
                </a:solidFill>
                <a:latin typeface="Bahnschrift"/>
              </a:rPr>
              <a:t>throttle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2395728"/>
            <a:ext cx="1700784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53665F"/>
                </a:solidFill>
                <a:latin typeface="Aptos"/>
              </a:rPr>
              <a:t>spowolnienie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5" y="1755648"/>
            <a:ext cx="1920240" cy="1143000"/>
          </a:xfrm>
          <a:prstGeom prst="roundRect">
            <a:avLst/>
          </a:prstGeom>
          <a:solidFill>
            <a:srgbClr val="F9E5D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2943" y="2011680"/>
            <a:ext cx="17007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900" b="1">
                <a:solidFill>
                  <a:srgbClr val="C94F1A"/>
                </a:solidFill>
                <a:latin typeface="Bahnschrift"/>
              </a:rPr>
              <a:t>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3" y="2395728"/>
            <a:ext cx="1700784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53665F"/>
                </a:solidFill>
                <a:latin typeface="Aptos"/>
              </a:rPr>
              <a:t>weryfikacja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10928" y="1755648"/>
            <a:ext cx="1920240" cy="1143000"/>
          </a:xfrm>
          <a:prstGeom prst="roundRect">
            <a:avLst/>
          </a:prstGeom>
          <a:solidFill>
            <a:srgbClr val="F7D5CC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20655" y="2011680"/>
            <a:ext cx="17007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900" b="1">
                <a:solidFill>
                  <a:srgbClr val="9F2310"/>
                </a:solidFill>
                <a:latin typeface="Bahnschrift"/>
              </a:rPr>
              <a:t>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0655" y="2395728"/>
            <a:ext cx="1700784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1000" b="0">
                <a:solidFill>
                  <a:srgbClr val="53665F"/>
                </a:solidFill>
                <a:latin typeface="Aptos"/>
              </a:rPr>
              <a:t>ryzyko krytyczne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40480"/>
            <a:ext cx="5029200" cy="150876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4023360"/>
            <a:ext cx="46268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W localhost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498848"/>
            <a:ext cx="4626864" cy="6675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0">
                <a:solidFill>
                  <a:srgbClr val="10201C"/>
                </a:solidFill>
                <a:latin typeface="Aptos"/>
              </a:rPr>
              <a:t>Decyzja działa na poziomie sesji aplikacji. Można obserwować zmianę statusu po kolejnych batchach.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840480"/>
            <a:ext cx="5029200" cy="1508760"/>
          </a:xfrm>
          <a:prstGeom prst="roundRect">
            <a:avLst/>
          </a:prstGeom>
          <a:solidFill>
            <a:srgbClr val="DDF3EF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4023360"/>
            <a:ext cx="462686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Rozszerzalność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498848"/>
            <a:ext cx="4626864" cy="6675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0">
                <a:solidFill>
                  <a:srgbClr val="10201C"/>
                </a:solidFill>
                <a:latin typeface="Aptos"/>
              </a:rPr>
              <a:t>Architektura zostawia miejsce na denylistę, scoring IP, nowe rodziny botów i modele sekwencyjne.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713232"/>
            <a:ext cx="98755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800" b="1">
                <a:solidFill>
                  <a:srgbClr val="10201C"/>
                </a:solidFill>
                <a:latin typeface="Bahnschrift"/>
              </a:rPr>
              <a:t>Co udało się zbudować?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3383280" cy="242316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2103120"/>
            <a:ext cx="29809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Demo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578608"/>
            <a:ext cx="2980944" cy="1581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0">
                <a:solidFill>
                  <a:srgbClr val="10201C"/>
                </a:solidFill>
                <a:latin typeface="Aptos"/>
              </a:rPr>
              <a:t>Frontend zbiera eventy, backend zapisuje, model predykuje, policy podejmuje akcję.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20240"/>
            <a:ext cx="3383280" cy="2423160"/>
          </a:xfrm>
          <a:prstGeom prst="roundRect">
            <a:avLst/>
          </a:prstGeom>
          <a:solidFill>
            <a:srgbClr val="DFF2E8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36007" y="2103120"/>
            <a:ext cx="29809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Dane i boty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007" y="2578608"/>
            <a:ext cx="2980944" cy="1581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0">
                <a:solidFill>
                  <a:srgbClr val="10201C"/>
                </a:solidFill>
                <a:latin typeface="Aptos"/>
              </a:rPr>
              <a:t>101 human oraz 101 bot: linear, human_like i adaptive z nagraniami.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920240"/>
            <a:ext cx="3383280" cy="2423160"/>
          </a:xfrm>
          <a:prstGeom prst="roundRect">
            <a:avLst/>
          </a:prstGeom>
          <a:solidFill>
            <a:srgbClr val="F9E5D9"/>
          </a:solidFill>
          <a:ln w="13970">
            <a:solidFill>
              <a:srgbClr val="C8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85048" y="2103120"/>
            <a:ext cx="29809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300" b="1">
                <a:solidFill>
                  <a:srgbClr val="10201C"/>
                </a:solidFill>
                <a:latin typeface="Bahnschrift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2578608"/>
            <a:ext cx="2980944" cy="1581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000" b="0">
                <a:solidFill>
                  <a:srgbClr val="10201C"/>
                </a:solidFill>
                <a:latin typeface="Aptos"/>
              </a:rPr>
              <a:t>Interpretowalne drzewo decyzyjne oraz raport z metrykami i wykresami.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15000"/>
            <a:ext cx="2743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100" b="1">
                <a:solidFill>
                  <a:srgbClr val="0E7490"/>
                </a:solidFill>
                <a:latin typeface="Bahnschrift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750</Words>
  <Application>Microsoft Office PowerPoint</Application>
  <PresentationFormat>Panoramiczny</PresentationFormat>
  <Paragraphs>120</Paragraphs>
  <Slides>12</Slides>
  <Notes>0</Notes>
  <HiddenSlides>0</HiddenSlides>
  <MMClips>3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Aptos</vt:lpstr>
      <vt:lpstr>Arial</vt:lpstr>
      <vt:lpstr>Bahnschrift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Piotr Kosiara</cp:lastModifiedBy>
  <cp:revision>1</cp:revision>
  <dcterms:created xsi:type="dcterms:W3CDTF">2013-01-27T09:14:16Z</dcterms:created>
  <dcterms:modified xsi:type="dcterms:W3CDTF">2026-05-17T10:27:07Z</dcterms:modified>
  <cp:category/>
</cp:coreProperties>
</file>